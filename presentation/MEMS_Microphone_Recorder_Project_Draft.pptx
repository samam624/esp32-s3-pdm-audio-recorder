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7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MEMS MICROPHONE RECORDER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738360" y="6510528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776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UC DAVIS  |  DRAFT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285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14400"/>
            <a:ext cx="64922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MEMS Microphone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Recorder System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13232" y="2615184"/>
            <a:ext cx="630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C9D8E5"/>
                </a:solidFill>
              </a:rPr>
              <a:t>PCB development, firmware bring-up, troubleshooting, and next deployment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13232" y="6053328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BF00"/>
                </a:solidFill>
              </a:rPr>
              <a:t>Sam Amezcua  |  UC Davis  |  EDIT PRESENTATION DATE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7360920" y="950976"/>
            <a:ext cx="4069080" cy="603504"/>
          </a:xfrm>
          <a:prstGeom prst="roundRect">
            <a:avLst>
              <a:gd name="adj" fmla="val 4545"/>
            </a:avLst>
          </a:prstGeom>
          <a:solidFill>
            <a:srgbClr val="B87333"/>
          </a:solidFill>
          <a:ln w="15240">
            <a:solidFill>
              <a:srgbClr val="8D542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64374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39960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0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7991627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67213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8418881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94466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8846134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21720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9273388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248973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9700641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76227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10127894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103480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555148" y="1071677"/>
            <a:ext cx="195316" cy="289682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30733" y="1391534"/>
            <a:ext cx="244145" cy="72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11023092" y="1089782"/>
            <a:ext cx="325526" cy="253472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063783" y="1174272"/>
            <a:ext cx="244145" cy="603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FPC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8906256" y="1828800"/>
            <a:ext cx="502920" cy="292608"/>
          </a:xfrm>
          <a:prstGeom prst="chevron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726680" y="2395728"/>
            <a:ext cx="3337560" cy="2212848"/>
          </a:xfrm>
          <a:prstGeom prst="roundRect">
            <a:avLst>
              <a:gd name="adj" fmla="val 2066"/>
            </a:avLst>
          </a:prstGeom>
          <a:solidFill>
            <a:srgbClr val="275D48"/>
          </a:solidFill>
          <a:ln w="15240">
            <a:solidFill>
              <a:srgbClr val="183F3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662465" y="2661270"/>
            <a:ext cx="1034644" cy="641726"/>
          </a:xfrm>
          <a:prstGeom prst="rect">
            <a:avLst/>
          </a:prstGeom>
          <a:solidFill>
            <a:srgbClr val="263645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62592" y="2816169"/>
            <a:ext cx="834390" cy="3319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ESP32-S3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WROOM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7793431" y="2661270"/>
            <a:ext cx="500634" cy="354056"/>
          </a:xfrm>
          <a:prstGeom prst="rect">
            <a:avLst/>
          </a:prstGeom>
          <a:solidFill>
            <a:srgbClr val="C4C9CF"/>
          </a:solidFill>
          <a:ln w="12700">
            <a:solidFill>
              <a:srgbClr val="7F879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26807" y="2771912"/>
            <a:ext cx="433883" cy="132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USB-C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93558" y="3391510"/>
            <a:ext cx="400507" cy="708111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60309" y="3657051"/>
            <a:ext cx="267005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A3A"/>
                </a:solidFill>
              </a:rPr>
              <a:t>FPC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10129723" y="3612794"/>
            <a:ext cx="667512" cy="531084"/>
          </a:xfrm>
          <a:prstGeom prst="rect">
            <a:avLst/>
          </a:prstGeom>
          <a:solidFill>
            <a:srgbClr val="C5CCD3"/>
          </a:solidFill>
          <a:ln w="12700">
            <a:solidFill>
              <a:srgbClr val="87919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63226" y="3789822"/>
            <a:ext cx="400507" cy="177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A3A"/>
                </a:solidFill>
              </a:rPr>
              <a:t>SD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561070" y="2794041"/>
            <a:ext cx="734263" cy="398313"/>
          </a:xfrm>
          <a:prstGeom prst="roundRect">
            <a:avLst/>
          </a:prstGeom>
          <a:solidFill>
            <a:srgbClr val="2A3948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27821" y="2915747"/>
            <a:ext cx="600761" cy="1327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LiPo / power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8661197" y="3944722"/>
            <a:ext cx="166878" cy="177028"/>
          </a:xfrm>
          <a:prstGeom prst="ellipse">
            <a:avLst/>
          </a:prstGeom>
          <a:solidFill>
            <a:srgbClr val="3B7A5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061704" y="3944722"/>
            <a:ext cx="166878" cy="177028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462211" y="3944722"/>
            <a:ext cx="166878" cy="177028"/>
          </a:xfrm>
          <a:prstGeom prst="ellipse">
            <a:avLst/>
          </a:prstGeom>
          <a:solidFill>
            <a:srgbClr val="B44A4A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406640" y="5029200"/>
            <a:ext cx="1161288" cy="310896"/>
          </a:xfrm>
          <a:prstGeom prst="roundRect">
            <a:avLst>
              <a:gd name="adj" fmla="val 23529"/>
            </a:avLst>
          </a:prstGeom>
          <a:solidFill>
            <a:srgbClr val="284767"/>
          </a:solidFill>
          <a:ln w="12700">
            <a:solidFill>
              <a:srgbClr val="28476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479792" y="507949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PDM audio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714232" y="5029200"/>
            <a:ext cx="1161288" cy="310896"/>
          </a:xfrm>
          <a:prstGeom prst="roundRect">
            <a:avLst>
              <a:gd name="adj" fmla="val 23529"/>
            </a:avLst>
          </a:prstGeom>
          <a:solidFill>
            <a:srgbClr val="284767"/>
          </a:solidFill>
          <a:ln w="12700">
            <a:solidFill>
              <a:srgbClr val="28476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87384" y="5079492"/>
            <a:ext cx="1014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 WAV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10021824" y="5029200"/>
            <a:ext cx="1216152" cy="310896"/>
          </a:xfrm>
          <a:prstGeom prst="roundRect">
            <a:avLst>
              <a:gd name="adj" fmla="val 23529"/>
            </a:avLst>
          </a:prstGeom>
          <a:solidFill>
            <a:srgbClr val="284767"/>
          </a:solidFill>
          <a:ln w="12700">
            <a:solidFill>
              <a:srgbClr val="28476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94976" y="5079492"/>
            <a:ext cx="10698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BLE control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What I was building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A compact audio platform that works without a PC in the recording loop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694944" y="1417320"/>
            <a:ext cx="5623560" cy="3337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</a:rPr>
              <a:t>Capture PDM MEMS microphone data as standard WAV files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</a:rPr>
              <a:t>Store recordings locally for untethered experiments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</a:rPr>
              <a:t>Trigger without touching the setup: pushbutton or Bluetooth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</a:rPr>
              <a:t>Make failures visible through LEDs, telemetry, and recoverable files</a:t>
            </a:r>
            <a:endParaRPr lang="en-US" sz="1700" dirty="0"/>
          </a:p>
          <a:p>
            <a:pPr marL="203200" indent="-203200">
              <a:buSzPct val="100000"/>
              <a:buChar char="•"/>
            </a:pPr>
            <a:r>
              <a:rPr lang="en-US" sz="1700" dirty="0">
                <a:solidFill>
                  <a:srgbClr val="172A3A"/>
                </a:solidFill>
              </a:rPr>
              <a:t>Support both a quick devkit prototype and custom microphone hardware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12280" y="1307592"/>
            <a:ext cx="4526280" cy="3611880"/>
          </a:xfrm>
          <a:prstGeom prst="roundRect">
            <a:avLst/>
          </a:prstGeom>
          <a:solidFill>
            <a:srgbClr val="FFF3C4"/>
          </a:solidFill>
          <a:ln w="25400">
            <a:solidFill>
              <a:srgbClr val="FFB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0" y="162763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2851"/>
                </a:solidFill>
              </a:rPr>
              <a:t>PLANNED USE — EDIT THIS LINE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132320" y="2084832"/>
            <a:ext cx="3794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22851"/>
                </a:solidFill>
              </a:rPr>
              <a:t>[Replace with the exact final experiment/application.]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132320" y="3054096"/>
            <a:ext cx="3794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Current evidence supports describing it as a portable, remotely triggered acoustic-data platform for controlled or field measurements.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960120" y="5330952"/>
            <a:ext cx="10012680" cy="0"/>
          </a:xfrm>
          <a:prstGeom prst="line">
            <a:avLst/>
          </a:prstGeom>
          <a:noFill/>
          <a:ln w="15240">
            <a:solidFill>
              <a:srgbClr val="CCD6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5084064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639A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0280" y="5029200"/>
            <a:ext cx="87325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22851"/>
                </a:solidFill>
              </a:rPr>
              <a:t>Record first, verify continuously, and preserve usable audio when hardware or storage misbehaves.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Three ordered PCB designs form the hardware path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Prototype quickly, scale the sensor geometry, then integrate the recorder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310128" cy="452628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73152" cy="4526280"/>
          </a:xfrm>
          <a:prstGeom prst="rect">
            <a:avLst/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5087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1  ESP32 devkit carrier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965960"/>
            <a:ext cx="2898648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Rapid bring-up board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ESP32-S3 DevKitC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Two PDM microphones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microSD + buttons + LEDs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Platform used for firmware validation</a:t>
            </a:r>
            <a:endParaRPr lang="en-US" sz="1320" dirty="0"/>
          </a:p>
        </p:txBody>
      </p:sp>
      <p:sp>
        <p:nvSpPr>
          <p:cNvPr id="8" name="Shape 6"/>
          <p:cNvSpPr/>
          <p:nvPr/>
        </p:nvSpPr>
        <p:spPr>
          <a:xfrm>
            <a:off x="4096512" y="1325880"/>
            <a:ext cx="3310128" cy="452628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96512" y="1325880"/>
            <a:ext cx="73152" cy="4526280"/>
          </a:xfrm>
          <a:prstGeom prst="rect">
            <a:avLst/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25112" y="15087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2  Eight-mic flex array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25112" y="1965960"/>
            <a:ext cx="2898648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Spatial sensor board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Eight IMP34DT05TR PDM mics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Four left/right microphone pairs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Local decoupling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10-pin FPC tail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7690104" y="1325880"/>
            <a:ext cx="3310128" cy="4526280"/>
          </a:xfrm>
          <a:prstGeom prst="roundRect">
            <a:avLst>
              <a:gd name="adj" fmla="val 1657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90104" y="1325880"/>
            <a:ext cx="73152" cy="4526280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18704" y="1508760"/>
            <a:ext cx="28986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3  Integrated controller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918704" y="1965960"/>
            <a:ext cx="2898648" cy="3721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Portable system direction</a:t>
            </a:r>
            <a:endParaRPr lang="en-US" sz="1320" dirty="0"/>
          </a:p>
          <a:p>
            <a:pPr indent="0" marL="0">
              <a:buNone/>
            </a:pP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ESP32-S3-WROOM-N8R8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USB-C + LiPo charging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3.3 V and 1.8 V rails</a:t>
            </a:r>
            <a:endParaRPr lang="en-US" sz="1320" dirty="0"/>
          </a:p>
          <a:p>
            <a:pPr indent="0" marL="0">
              <a:buNone/>
            </a:pPr>
            <a:r>
              <a:rPr lang="en-US" sz="1320" dirty="0">
                <a:solidFill>
                  <a:srgbClr val="172A3A"/>
                </a:solidFill>
              </a:rPr>
              <a:t>• FPC, SD, buttons, and status LEDs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896112" y="4343400"/>
            <a:ext cx="2523744" cy="1051560"/>
          </a:xfrm>
          <a:prstGeom prst="roundRect">
            <a:avLst>
              <a:gd name="adj" fmla="val 4348"/>
            </a:avLst>
          </a:prstGeom>
          <a:solidFill>
            <a:srgbClr val="2C7257"/>
          </a:solidFill>
          <a:ln w="15240">
            <a:solidFill>
              <a:srgbClr val="1C4F3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51336" y="4490618"/>
            <a:ext cx="1160922" cy="452171"/>
          </a:xfrm>
          <a:prstGeom prst="roundRect">
            <a:avLst/>
          </a:prstGeom>
          <a:solidFill>
            <a:srgbClr val="273645"/>
          </a:solidFill>
          <a:ln w="12700">
            <a:solidFill>
              <a:srgbClr val="A8B4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27048" y="4606290"/>
            <a:ext cx="1009498" cy="23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ESP32-S3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DevKitC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71824" y="4553712"/>
            <a:ext cx="353324" cy="504749"/>
          </a:xfrm>
          <a:prstGeom prst="rect">
            <a:avLst/>
          </a:prstGeom>
          <a:solidFill>
            <a:srgbClr val="C5CCD3"/>
          </a:solidFill>
          <a:ln w="12700">
            <a:solidFill>
              <a:srgbClr val="87919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 rot="16200000">
            <a:off x="984443" y="4753508"/>
            <a:ext cx="328087" cy="1261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A3A"/>
                </a:solidFill>
              </a:rPr>
              <a:t>microSD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2713208" y="4532681"/>
            <a:ext cx="252374" cy="168250"/>
          </a:xfrm>
          <a:prstGeom prst="ellipse">
            <a:avLst/>
          </a:prstGeom>
          <a:solidFill>
            <a:srgbClr val="D6D9DC"/>
          </a:solidFill>
          <a:ln w="12700">
            <a:solidFill>
              <a:srgbClr val="7B85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62733" y="4742993"/>
            <a:ext cx="35332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MIC L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091769" y="4532681"/>
            <a:ext cx="252374" cy="168250"/>
          </a:xfrm>
          <a:prstGeom prst="ellipse">
            <a:avLst/>
          </a:prstGeom>
          <a:solidFill>
            <a:srgbClr val="D6D9DC"/>
          </a:solidFill>
          <a:ln w="12700">
            <a:solidFill>
              <a:srgbClr val="7B858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41294" y="4742993"/>
            <a:ext cx="353324" cy="1051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MIC R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1602760" y="5163617"/>
            <a:ext cx="126187" cy="84125"/>
          </a:xfrm>
          <a:prstGeom prst="ellipse">
            <a:avLst/>
          </a:prstGeom>
          <a:solidFill>
            <a:srgbClr val="B44A4A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981322" y="5163617"/>
            <a:ext cx="126187" cy="84125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59884" y="5163617"/>
            <a:ext cx="126187" cy="84125"/>
          </a:xfrm>
          <a:prstGeom prst="ellipse">
            <a:avLst/>
          </a:prstGeom>
          <a:solidFill>
            <a:srgbClr val="7ED6DF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14157" y="5079492"/>
            <a:ext cx="403799" cy="157734"/>
          </a:xfrm>
          <a:prstGeom prst="roundRect">
            <a:avLst/>
          </a:prstGeom>
          <a:solidFill>
            <a:srgbClr val="263645"/>
          </a:solidFill>
          <a:ln w="12700">
            <a:solidFill>
              <a:srgbClr val="1824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839395" y="5121554"/>
            <a:ext cx="353324" cy="736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425696" y="4608576"/>
            <a:ext cx="2633472" cy="512064"/>
          </a:xfrm>
          <a:prstGeom prst="roundRect">
            <a:avLst>
              <a:gd name="adj" fmla="val 5357"/>
            </a:avLst>
          </a:prstGeom>
          <a:solidFill>
            <a:srgbClr val="B87333"/>
          </a:solidFill>
          <a:ln w="15240">
            <a:solidFill>
              <a:srgbClr val="8D542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57370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41569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0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833884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083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5110399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94598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5386913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71112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5663428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647627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939942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24142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6216457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00656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6492972" y="4710989"/>
            <a:ext cx="126407" cy="245791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77171" y="4982383"/>
            <a:ext cx="158008" cy="61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6795821" y="4726351"/>
            <a:ext cx="210678" cy="215067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822156" y="4798040"/>
            <a:ext cx="158008" cy="512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FPC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129016" y="4224528"/>
            <a:ext cx="2450592" cy="1243584"/>
          </a:xfrm>
          <a:prstGeom prst="roundRect">
            <a:avLst>
              <a:gd name="adj" fmla="val 3676"/>
            </a:avLst>
          </a:prstGeom>
          <a:solidFill>
            <a:srgbClr val="275D48"/>
          </a:solidFill>
          <a:ln w="15240">
            <a:solidFill>
              <a:srgbClr val="183F3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50359" y="4373758"/>
            <a:ext cx="759684" cy="360639"/>
          </a:xfrm>
          <a:prstGeom prst="rect">
            <a:avLst/>
          </a:prstGeom>
          <a:solidFill>
            <a:srgbClr val="263645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623877" y="4460809"/>
            <a:ext cx="612648" cy="186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ESP32-S3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WROOM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8178028" y="4373758"/>
            <a:ext cx="367589" cy="198973"/>
          </a:xfrm>
          <a:prstGeom prst="rect">
            <a:avLst/>
          </a:prstGeom>
          <a:solidFill>
            <a:srgbClr val="C4C9CF"/>
          </a:solidFill>
          <a:ln w="12700">
            <a:solidFill>
              <a:srgbClr val="7F879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02534" y="4435937"/>
            <a:ext cx="318577" cy="74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USB-C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8251546" y="4784141"/>
            <a:ext cx="294071" cy="397947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300557" y="4933371"/>
            <a:ext cx="196047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A3A"/>
                </a:solidFill>
              </a:rPr>
              <a:t>FPC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9893442" y="4908499"/>
            <a:ext cx="490118" cy="298460"/>
          </a:xfrm>
          <a:prstGeom prst="rect">
            <a:avLst/>
          </a:prstGeom>
          <a:solidFill>
            <a:srgbClr val="C5CCD3"/>
          </a:solidFill>
          <a:ln w="12700">
            <a:solidFill>
              <a:srgbClr val="87919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991466" y="5007986"/>
            <a:ext cx="294071" cy="994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A3A"/>
                </a:solidFill>
              </a:rPr>
              <a:t>SD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741664" y="4448373"/>
            <a:ext cx="539130" cy="223845"/>
          </a:xfrm>
          <a:prstGeom prst="roundRect">
            <a:avLst/>
          </a:prstGeom>
          <a:solidFill>
            <a:srgbClr val="2A3948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90676" y="4516770"/>
            <a:ext cx="441107" cy="746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LiPo / power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8815182" y="5095037"/>
            <a:ext cx="122530" cy="99487"/>
          </a:xfrm>
          <a:prstGeom prst="ellipse">
            <a:avLst/>
          </a:prstGeom>
          <a:solidFill>
            <a:srgbClr val="3B7A5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109253" y="5095037"/>
            <a:ext cx="122530" cy="99487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403324" y="5095037"/>
            <a:ext cx="122530" cy="99487"/>
          </a:xfrm>
          <a:prstGeom prst="ellipse">
            <a:avLst/>
          </a:prstGeom>
          <a:solidFill>
            <a:srgbClr val="B44A4A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Board 1 — ESP32 devkit recorder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The fast-learning platform: prove the microphone, storage, controls, and enclosure before full integration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63040"/>
            <a:ext cx="4892040" cy="2724912"/>
          </a:xfrm>
          <a:prstGeom prst="roundRect">
            <a:avLst>
              <a:gd name="adj" fmla="val 1678"/>
            </a:avLst>
          </a:prstGeom>
          <a:solidFill>
            <a:srgbClr val="2C7257"/>
          </a:solidFill>
          <a:ln w="15240">
            <a:solidFill>
              <a:srgbClr val="1C4F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34617" y="1844528"/>
            <a:ext cx="2250338" cy="1171712"/>
          </a:xfrm>
          <a:prstGeom prst="roundRect">
            <a:avLst/>
          </a:prstGeom>
          <a:solidFill>
            <a:srgbClr val="273645"/>
          </a:solidFill>
          <a:ln w="12700">
            <a:solidFill>
              <a:srgbClr val="A8B4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81378" y="2144268"/>
            <a:ext cx="1956816" cy="59948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ESP32-S3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DevKitC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5129" y="2008022"/>
            <a:ext cx="684886" cy="1307958"/>
          </a:xfrm>
          <a:prstGeom prst="rect">
            <a:avLst/>
          </a:prstGeom>
          <a:solidFill>
            <a:srgbClr val="C5CCD3"/>
          </a:solidFill>
          <a:ln w="12700">
            <a:solidFill>
              <a:srgbClr val="87919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 rot="16200000">
            <a:off x="829589" y="2525756"/>
            <a:ext cx="635965" cy="32698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A3A"/>
                </a:solidFill>
              </a:rPr>
              <a:t>microSD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180637" y="1953524"/>
            <a:ext cx="489204" cy="435986"/>
          </a:xfrm>
          <a:prstGeom prst="ellipse">
            <a:avLst/>
          </a:prstGeom>
          <a:solidFill>
            <a:srgbClr val="D6D9DC"/>
          </a:solidFill>
          <a:ln w="12700">
            <a:solidFill>
              <a:srgbClr val="7B85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82796" y="2498507"/>
            <a:ext cx="684886" cy="27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MIC L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914443" y="1953524"/>
            <a:ext cx="489204" cy="435986"/>
          </a:xfrm>
          <a:prstGeom prst="ellipse">
            <a:avLst/>
          </a:prstGeom>
          <a:solidFill>
            <a:srgbClr val="D6D9DC"/>
          </a:solidFill>
          <a:ln w="12700">
            <a:solidFill>
              <a:srgbClr val="7B858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6602" y="2498507"/>
            <a:ext cx="684886" cy="2724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MIC R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028139" y="3588471"/>
            <a:ext cx="244602" cy="217993"/>
          </a:xfrm>
          <a:prstGeom prst="ellipse">
            <a:avLst/>
          </a:prstGeom>
          <a:solidFill>
            <a:srgbClr val="B44A4A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61945" y="3588471"/>
            <a:ext cx="244602" cy="217993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95751" y="3588471"/>
            <a:ext cx="244602" cy="217993"/>
          </a:xfrm>
          <a:prstGeom prst="ellipse">
            <a:avLst/>
          </a:prstGeom>
          <a:solidFill>
            <a:srgbClr val="7ED6DF"/>
          </a:solidFill>
          <a:ln w="12700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76318" y="3370478"/>
            <a:ext cx="782726" cy="408737"/>
          </a:xfrm>
          <a:prstGeom prst="roundRect">
            <a:avLst/>
          </a:prstGeom>
          <a:solidFill>
            <a:srgbClr val="263645"/>
          </a:solidFill>
          <a:ln w="12700">
            <a:solidFill>
              <a:srgbClr val="1824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25239" y="3479475"/>
            <a:ext cx="684886" cy="190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REC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868680" y="44805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41832" y="453085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851"/>
                </a:solidFill>
              </a:rPr>
              <a:t>48 kHz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1993392" y="44805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066544" y="453085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851"/>
                </a:solidFill>
              </a:rPr>
              <a:t>stereo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118104" y="4480560"/>
            <a:ext cx="1188720" cy="310896"/>
          </a:xfrm>
          <a:prstGeom prst="roundRect">
            <a:avLst>
              <a:gd name="adj" fmla="val 2352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191256" y="4530852"/>
            <a:ext cx="1042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851"/>
                </a:solidFill>
              </a:rPr>
              <a:t>16-bit PCM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425696" y="4480560"/>
            <a:ext cx="1005840" cy="310896"/>
          </a:xfrm>
          <a:prstGeom prst="roundRect">
            <a:avLst>
              <a:gd name="adj" fmla="val 23529"/>
            </a:avLst>
          </a:prstGeom>
          <a:solidFill>
            <a:srgbClr val="DDEAF3"/>
          </a:solidFill>
          <a:ln w="12700">
            <a:solidFill>
              <a:srgbClr val="DDEA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98848" y="4530852"/>
            <a:ext cx="8595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2851"/>
                </a:solidFill>
              </a:rPr>
              <a:t>microSD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925312" y="1344168"/>
            <a:ext cx="5394960" cy="4178808"/>
          </a:xfrm>
          <a:prstGeom prst="roundRect">
            <a:avLst>
              <a:gd name="adj" fmla="val 1313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25312" y="1344168"/>
            <a:ext cx="73152" cy="4178808"/>
          </a:xfrm>
          <a:prstGeom prst="rect">
            <a:avLst/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153912" y="152704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What is on this board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153912" y="1984248"/>
            <a:ext cx="4983480" cy="33741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ESP32-S3 DevKitC module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Two ST IMP34DT05TR PDM microphones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1.8 V microphone regulator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microSD socket over SPI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Record button and three status LEDs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• Exported STEP plus printable enclosure files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49808" y="5157216"/>
            <a:ext cx="1508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768A"/>
                </a:solidFill>
              </a:rPr>
              <a:t>Validated pin map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212848" y="5102352"/>
            <a:ext cx="85770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22851"/>
                </a:solidFill>
              </a:rPr>
              <a:t>PDM 4/5   •   SD SPI 12/13/11/14   •   button 35   •   LEDs 40/41/42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Board 2 — eight-microphone flex array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A narrow sensor strip for known microphone spacing and multi-point acoustic capture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35608"/>
            <a:ext cx="10844784" cy="1005840"/>
          </a:xfrm>
          <a:prstGeom prst="roundRect">
            <a:avLst>
              <a:gd name="adj" fmla="val 2727"/>
            </a:avLst>
          </a:prstGeom>
          <a:solidFill>
            <a:srgbClr val="B87333"/>
          </a:solidFill>
          <a:ln w="15240">
            <a:solidFill>
              <a:srgbClr val="8D542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0607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35538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0</a:t>
            </a:r>
            <a:endParaRPr lang="en-US" sz="700" dirty="0"/>
          </a:p>
        </p:txBody>
      </p:sp>
      <p:sp>
        <p:nvSpPr>
          <p:cNvPr id="7" name="Shape 5"/>
          <p:cNvSpPr/>
          <p:nvPr/>
        </p:nvSpPr>
        <p:spPr>
          <a:xfrm>
            <a:off x="2339310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74241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3478012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12943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2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4616714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51645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3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5755416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90348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4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6894119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29050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5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8032821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67752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6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9171523" y="1636776"/>
            <a:ext cx="520550" cy="482803"/>
          </a:xfrm>
          <a:prstGeom prst="ellipse">
            <a:avLst/>
          </a:prstGeom>
          <a:solidFill>
            <a:srgbClr val="D7D9DB"/>
          </a:solidFill>
          <a:ln w="12700">
            <a:solidFill>
              <a:srgbClr val="6973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06455" y="2169871"/>
            <a:ext cx="650687" cy="12070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7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10418674" y="1666951"/>
            <a:ext cx="867583" cy="422453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27121" y="1807769"/>
            <a:ext cx="650687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FPC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896112" y="257860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68A"/>
                </a:solidFill>
              </a:rPr>
              <a:t>MIC7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82896" y="2578608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851"/>
                </a:solidFill>
              </a:rPr>
              <a:t>≈ 350 mm overall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177272" y="257860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7768A"/>
                </a:solidFill>
              </a:rPr>
              <a:t>MIC0 + FPC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76656" y="3127248"/>
            <a:ext cx="3410712" cy="2185416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76656" y="3127248"/>
            <a:ext cx="73152" cy="2185416"/>
          </a:xfrm>
          <a:prstGeom prst="rect">
            <a:avLst/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05256" y="331012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Sensor layout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5256" y="3767328"/>
            <a:ext cx="2999232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A3A"/>
                </a:solidFill>
              </a:rPr>
              <a:t>Eight ST IMP34DT05TR omnidirectional digital PDM microphones arranged along a narrow flex PCB.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389120" y="3127248"/>
            <a:ext cx="3410712" cy="2185416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0" y="3127248"/>
            <a:ext cx="73152" cy="2185416"/>
          </a:xfrm>
          <a:prstGeom prst="rect">
            <a:avLst/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617720" y="331012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Electrical strategy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4617720" y="3767328"/>
            <a:ext cx="2999232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A3A"/>
                </a:solidFill>
              </a:rPr>
              <a:t>Four left/right PDM pairs, shared clocking, paired data behavior, and local 100 nF / 10 µF decoupling.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101584" y="3127248"/>
            <a:ext cx="3410712" cy="2185416"/>
          </a:xfrm>
          <a:prstGeom prst="roundRect">
            <a:avLst>
              <a:gd name="adj" fmla="val 2510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01584" y="3127248"/>
            <a:ext cx="73152" cy="2185416"/>
          </a:xfrm>
          <a:prstGeom prst="rect">
            <a:avLst/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330184" y="3310128"/>
            <a:ext cx="29992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System role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8330184" y="3767328"/>
            <a:ext cx="2999232" cy="13807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72A3A"/>
                </a:solidFill>
              </a:rPr>
              <a:t>Moves the microphones away from the controller and enables repeatable spatial placement through one 10-pin FPC interface.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749808" y="5632704"/>
            <a:ext cx="10716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851"/>
                </a:solidFill>
              </a:rPr>
              <a:t>Design status: ordered PCB design; validate each pair, cable integrity, clock loading, and channel mapping during bring-up.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Board 3 — integrated microphone controller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Turns the bench prototype into a battery-capable, connectorized recorder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4846320" cy="3182112"/>
          </a:xfrm>
          <a:prstGeom prst="roundRect">
            <a:avLst>
              <a:gd name="adj" fmla="val 1437"/>
            </a:avLst>
          </a:prstGeom>
          <a:solidFill>
            <a:srgbClr val="275D48"/>
          </a:solidFill>
          <a:ln w="15240">
            <a:solidFill>
              <a:srgbClr val="183F3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69234" y="1735165"/>
            <a:ext cx="1502359" cy="922812"/>
          </a:xfrm>
          <a:prstGeom prst="rect">
            <a:avLst/>
          </a:prstGeom>
          <a:solidFill>
            <a:srgbClr val="263645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14623" y="1957913"/>
            <a:ext cx="12115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ESP32-S3</a:t>
            </a:r>
            <a:endParaRPr lang="en-US" sz="950" dirty="0"/>
          </a:p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WROOM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755294" y="1735165"/>
            <a:ext cx="726948" cy="509138"/>
          </a:xfrm>
          <a:prstGeom prst="rect">
            <a:avLst/>
          </a:prstGeom>
          <a:solidFill>
            <a:srgbClr val="C4C9CF"/>
          </a:solidFill>
          <a:ln w="12700">
            <a:solidFill>
              <a:srgbClr val="7F87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3758" y="1894271"/>
            <a:ext cx="630022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72A3A"/>
                </a:solidFill>
              </a:rPr>
              <a:t>USB-C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900684" y="2785262"/>
            <a:ext cx="581558" cy="1018276"/>
          </a:xfrm>
          <a:prstGeom prst="rect">
            <a:avLst/>
          </a:prstGeom>
          <a:solidFill>
            <a:srgbClr val="E8D59F"/>
          </a:solidFill>
          <a:ln w="12700">
            <a:solidFill>
              <a:srgbClr val="957D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97610" y="3167116"/>
            <a:ext cx="387706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2A3A"/>
                </a:solidFill>
              </a:rPr>
              <a:t>FPC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147718" y="3103474"/>
            <a:ext cx="969264" cy="763707"/>
          </a:xfrm>
          <a:prstGeom prst="rect">
            <a:avLst/>
          </a:prstGeom>
          <a:solidFill>
            <a:srgbClr val="C5CCD3"/>
          </a:solidFill>
          <a:ln w="12700">
            <a:solidFill>
              <a:srgbClr val="87919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41571" y="3358043"/>
            <a:ext cx="581558" cy="2545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2A3A"/>
                </a:solidFill>
              </a:rPr>
              <a:t>SD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69948" y="1926092"/>
            <a:ext cx="1066190" cy="572780"/>
          </a:xfrm>
          <a:prstGeom prst="roundRect">
            <a:avLst/>
          </a:prstGeom>
          <a:solidFill>
            <a:srgbClr val="2A3948"/>
          </a:solidFill>
          <a:ln w="12700">
            <a:solidFill>
              <a:srgbClr val="9DA8B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966874" y="2101108"/>
            <a:ext cx="872338" cy="1909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LiPo / power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015338" y="3580790"/>
            <a:ext cx="242316" cy="254569"/>
          </a:xfrm>
          <a:prstGeom prst="ellipse">
            <a:avLst/>
          </a:prstGeom>
          <a:solidFill>
            <a:srgbClr val="3B7A57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96896" y="3580790"/>
            <a:ext cx="242316" cy="254569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78454" y="3580790"/>
            <a:ext cx="242316" cy="254569"/>
          </a:xfrm>
          <a:prstGeom prst="ellipse">
            <a:avLst/>
          </a:prstGeom>
          <a:solidFill>
            <a:srgbClr val="B44A4A"/>
          </a:solidFill>
          <a:ln w="12700">
            <a:solidFill>
              <a:srgbClr val="FFFF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76656" y="4791456"/>
            <a:ext cx="1280160" cy="310896"/>
          </a:xfrm>
          <a:prstGeom prst="roundRect">
            <a:avLst>
              <a:gd name="adj" fmla="val 23529"/>
            </a:avLst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4841748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USB-C + ESD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066544" y="4791456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39696" y="484174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LiPo charge / load share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941064" y="4791456"/>
            <a:ext cx="1764792" cy="310896"/>
          </a:xfrm>
          <a:prstGeom prst="roundRect">
            <a:avLst>
              <a:gd name="adj" fmla="val 23529"/>
            </a:avLst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14216" y="4841748"/>
            <a:ext cx="1618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FPC sensor interface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888736" y="1316736"/>
            <a:ext cx="5413248" cy="4215384"/>
          </a:xfrm>
          <a:prstGeom prst="roundRect">
            <a:avLst>
              <a:gd name="adj" fmla="val 1302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88736" y="1316736"/>
            <a:ext cx="73152" cy="4215384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117336" y="1499616"/>
            <a:ext cx="50017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Integration decisions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117336" y="1956816"/>
            <a:ext cx="5001768" cy="34107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ESP32-S3-WROOM-1-N8R8 replaces the plug-in dev board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MCP73871 battery charging and load sharing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Dedicated 3.3 V and 1.8 V regulation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10-position FPC connector for external mic hardware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SD interface, USB access, controls, and visible status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• Mechanical mounting holes and compact enclosure path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731520" y="5522976"/>
            <a:ext cx="1508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768A"/>
                </a:solidFill>
              </a:rPr>
              <a:t>Engineering shift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112264" y="5468112"/>
            <a:ext cx="9089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From “can this record?” to “can this be deployed, powered, connected, and recovered reliably?”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Firmware evolved in five deliberate steps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Each intermediate build isolated one subsystem before combining them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530352" cy="530352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80744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78408" y="1792224"/>
            <a:ext cx="0" cy="402336"/>
          </a:xfrm>
          <a:prstGeom prst="line">
            <a:avLst/>
          </a:prstGeom>
          <a:noFill/>
          <a:ln w="25400">
            <a:solidFill>
              <a:srgbClr val="AAB8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81328" y="1289304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2851"/>
                </a:solidFill>
              </a:rPr>
              <a:t>PDM → serial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794760" y="1271016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Captured raw PCM to a PC with a Python script.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713232" y="2194560"/>
            <a:ext cx="530352" cy="530352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2313432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978408" y="2724912"/>
            <a:ext cx="0" cy="402336"/>
          </a:xfrm>
          <a:prstGeom prst="line">
            <a:avLst/>
          </a:prstGeom>
          <a:noFill/>
          <a:ln w="25400">
            <a:solidFill>
              <a:srgbClr val="AAB8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81328" y="2221992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2851"/>
                </a:solidFill>
              </a:rPr>
              <a:t>USB microphone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794760" y="2203704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Exposed the board as a USB Audio Class device.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13232" y="3127248"/>
            <a:ext cx="530352" cy="530352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3232" y="324612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78408" y="3657600"/>
            <a:ext cx="0" cy="402336"/>
          </a:xfrm>
          <a:prstGeom prst="line">
            <a:avLst/>
          </a:prstGeom>
          <a:noFill/>
          <a:ln w="25400">
            <a:solidFill>
              <a:srgbClr val="AAB8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81328" y="3154680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2851"/>
                </a:solidFill>
              </a:rPr>
              <a:t>SD diagnostic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794760" y="3136392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Probed SPI behavior and swept mount speeds.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713232" y="4059936"/>
            <a:ext cx="530352" cy="530352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4178808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78408" y="4590288"/>
            <a:ext cx="0" cy="402336"/>
          </a:xfrm>
          <a:prstGeom prst="line">
            <a:avLst/>
          </a:prstGeom>
          <a:noFill/>
          <a:ln w="25400">
            <a:solidFill>
              <a:srgbClr val="AAB8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81328" y="4087368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2851"/>
                </a:solidFill>
              </a:rPr>
              <a:t>Standalone WAV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794760" y="4069080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Recorded locally with button control and status LEDs.</a:t>
            </a:r>
            <a:endParaRPr lang="en-US" sz="1450" dirty="0"/>
          </a:p>
        </p:txBody>
      </p:sp>
      <p:sp>
        <p:nvSpPr>
          <p:cNvPr id="24" name="Shape 22"/>
          <p:cNvSpPr/>
          <p:nvPr/>
        </p:nvSpPr>
        <p:spPr>
          <a:xfrm>
            <a:off x="713232" y="4992624"/>
            <a:ext cx="530352" cy="530352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3232" y="5111496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2851"/>
                </a:solidFill>
              </a:rPr>
              <a:t>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481328" y="5020056"/>
            <a:ext cx="2304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22851"/>
                </a:solidFill>
              </a:rPr>
              <a:t>BLE + reliability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794760" y="5001768"/>
            <a:ext cx="7260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72A3A"/>
                </a:solidFill>
              </a:rPr>
              <a:t>Added remote control, telemetry, recovery, and storage guards.</a:t>
            </a:r>
            <a:endParaRPr lang="en-US" sz="1450" dirty="0"/>
          </a:p>
        </p:txBody>
      </p:sp>
      <p:sp>
        <p:nvSpPr>
          <p:cNvPr id="28" name="Shape 26"/>
          <p:cNvSpPr/>
          <p:nvPr/>
        </p:nvSpPr>
        <p:spPr>
          <a:xfrm>
            <a:off x="7589520" y="5696712"/>
            <a:ext cx="3675888" cy="420624"/>
          </a:xfrm>
          <a:prstGeom prst="roundRect">
            <a:avLst/>
          </a:prstGeom>
          <a:solidFill>
            <a:srgbClr val="DFF1E6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35824" y="5797296"/>
            <a:ext cx="3392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7A57"/>
                </a:solidFill>
              </a:rPr>
              <a:t>Current recorder: bench validated and working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The key reliability fix was separating capture from storage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SD writes are bursty; microphone sampling cannot wait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76072" y="1572768"/>
            <a:ext cx="1874520" cy="11521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8B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04088" y="1737360"/>
            <a:ext cx="1618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851"/>
                </a:solidFill>
              </a:rPr>
              <a:t>PDM microphones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" y="2130552"/>
            <a:ext cx="161848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48 kHz stereo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16-bit PCM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569464" y="1965960"/>
            <a:ext cx="246888" cy="292608"/>
          </a:xfrm>
          <a:prstGeom prst="chevron">
            <a:avLst/>
          </a:prstGeom>
          <a:solidFill>
            <a:srgbClr val="67768A"/>
          </a:solidFill>
          <a:ln w="12700">
            <a:solidFill>
              <a:srgbClr val="67768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852928" y="1572768"/>
            <a:ext cx="1883664" cy="11521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36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80944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851"/>
                </a:solidFill>
              </a:rPr>
              <a:t>I²S + DMA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980944" y="2130552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Hardware intake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deepened queue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855464" y="1965960"/>
            <a:ext cx="246888" cy="292608"/>
          </a:xfrm>
          <a:prstGeom prst="chevron">
            <a:avLst/>
          </a:prstGeom>
          <a:solidFill>
            <a:srgbClr val="67768A"/>
          </a:solidFill>
          <a:ln w="12700">
            <a:solidFill>
              <a:srgbClr val="67768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138928" y="1572768"/>
            <a:ext cx="1883664" cy="11521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2285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66944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851"/>
                </a:solidFill>
              </a:rPr>
              <a:t>Core 0 reader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266944" y="2130552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Never touches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the SD card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141464" y="1965960"/>
            <a:ext cx="246888" cy="292608"/>
          </a:xfrm>
          <a:prstGeom prst="chevron">
            <a:avLst/>
          </a:prstGeom>
          <a:solidFill>
            <a:srgbClr val="67768A"/>
          </a:solidFill>
          <a:ln w="12700">
            <a:solidFill>
              <a:srgbClr val="6776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424928" y="1572768"/>
            <a:ext cx="1883664" cy="1152144"/>
          </a:xfrm>
          <a:prstGeom prst="roundRect">
            <a:avLst/>
          </a:prstGeom>
          <a:solidFill>
            <a:srgbClr val="FFF3C4"/>
          </a:solidFill>
          <a:ln w="25400">
            <a:solidFill>
              <a:srgbClr val="FFBF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52944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851"/>
                </a:solidFill>
              </a:rPr>
              <a:t>128 KB pool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552944" y="2130552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32 × 4 KB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≈680 ms headroom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427464" y="1965960"/>
            <a:ext cx="246888" cy="292608"/>
          </a:xfrm>
          <a:prstGeom prst="chevron">
            <a:avLst/>
          </a:prstGeom>
          <a:solidFill>
            <a:srgbClr val="67768A"/>
          </a:solidFill>
          <a:ln w="12700">
            <a:solidFill>
              <a:srgbClr val="6776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710928" y="1572768"/>
            <a:ext cx="1883664" cy="1152144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B7A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38944" y="1737360"/>
            <a:ext cx="1627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22851"/>
                </a:solidFill>
              </a:rPr>
              <a:t>Core 1 writer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9838944" y="2130552"/>
            <a:ext cx="16276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WAV + periodic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67768A"/>
                </a:solidFill>
              </a:rPr>
              <a:t>flush/header update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76656" y="3310128"/>
            <a:ext cx="5349240" cy="2066544"/>
          </a:xfrm>
          <a:prstGeom prst="roundRect">
            <a:avLst>
              <a:gd name="adj" fmla="val 2655"/>
            </a:avLst>
          </a:prstGeom>
          <a:solidFill>
            <a:srgbClr val="F8E2E2"/>
          </a:solidFill>
          <a:ln w="12700">
            <a:solidFill>
              <a:srgbClr val="EDC4C4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3310128"/>
            <a:ext cx="73152" cy="2066544"/>
          </a:xfrm>
          <a:prstGeom prst="rect">
            <a:avLst/>
          </a:prstGeom>
          <a:solidFill>
            <a:srgbClr val="B44A4A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5256" y="3493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Failure observed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05256" y="3950208"/>
            <a:ext cx="49377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A slow SD transaction could exceed the I²S DMA buffering. Samples were silently lost, so playback sounded sped up with clicks and pops.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6181344" y="3310128"/>
            <a:ext cx="5349240" cy="2066544"/>
          </a:xfrm>
          <a:prstGeom prst="roundRect">
            <a:avLst>
              <a:gd name="adj" fmla="val 2655"/>
            </a:avLst>
          </a:prstGeom>
          <a:solidFill>
            <a:srgbClr val="DFF1E6"/>
          </a:solidFill>
          <a:ln w="12700">
            <a:solidFill>
              <a:srgbClr val="BFDCC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81344" y="3310128"/>
            <a:ext cx="73152" cy="2066544"/>
          </a:xfrm>
          <a:prstGeom prst="rect">
            <a:avLst/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9944" y="349300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Result after redesign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409944" y="3950208"/>
            <a:ext cx="4937760" cy="12618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72A3A"/>
                </a:solidFill>
              </a:rPr>
              <a:t>The reader runs continuously while storage latency consumes buffer headroom. Average SD throughput comfortably exceeds the 192 kB/s audio stream.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60120" y="5724144"/>
            <a:ext cx="10287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22851"/>
                </a:solidFill>
              </a:rPr>
              <a:t>Control plane: button + BLE commands → start/stop  |  status path: LEDs + 500 ms BLE heartbeat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Troubleshooting that materially changed the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The project became robust by reproducing failures and adding explicit recovery paths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2926080" cy="493776"/>
          </a:xfrm>
          <a:prstGeom prst="rect">
            <a:avLst/>
          </a:prstGeom>
          <a:solidFill>
            <a:srgbClr val="02285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76656" y="1371600"/>
            <a:ext cx="2706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Observed problem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93008" y="1234440"/>
            <a:ext cx="3657600" cy="493776"/>
          </a:xfrm>
          <a:prstGeom prst="rect">
            <a:avLst/>
          </a:prstGeom>
          <a:solidFill>
            <a:srgbClr val="02285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02736" y="1371600"/>
            <a:ext cx="34381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Root cause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150608" y="1234440"/>
            <a:ext cx="4270248" cy="493776"/>
          </a:xfrm>
          <a:prstGeom prst="rect">
            <a:avLst/>
          </a:prstGeom>
          <a:solidFill>
            <a:srgbClr val="022851"/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0336" y="1371600"/>
            <a:ext cx="40507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Fix / lesson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1728216"/>
            <a:ext cx="29260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1847088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Sped-up audio / clicks</a:t>
            </a:r>
            <a:endParaRPr lang="en-US" sz="1140" dirty="0"/>
          </a:p>
        </p:txBody>
      </p:sp>
      <p:sp>
        <p:nvSpPr>
          <p:cNvPr id="12" name="Shape 10"/>
          <p:cNvSpPr/>
          <p:nvPr/>
        </p:nvSpPr>
        <p:spPr>
          <a:xfrm>
            <a:off x="3493008" y="1728216"/>
            <a:ext cx="3657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02736" y="1847088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SD writes blocked capture</a:t>
            </a:r>
            <a:endParaRPr lang="en-US" sz="1140" dirty="0"/>
          </a:p>
        </p:txBody>
      </p:sp>
      <p:sp>
        <p:nvSpPr>
          <p:cNvPr id="14" name="Shape 12"/>
          <p:cNvSpPr/>
          <p:nvPr/>
        </p:nvSpPr>
        <p:spPr>
          <a:xfrm>
            <a:off x="7150608" y="1728216"/>
            <a:ext cx="4270248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0336" y="1847088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Dedicated core-0 reader + 128 KB queue</a:t>
            </a:r>
            <a:endParaRPr lang="en-US" sz="1140" dirty="0"/>
          </a:p>
        </p:txBody>
      </p:sp>
      <p:sp>
        <p:nvSpPr>
          <p:cNvPr id="16" name="Shape 14"/>
          <p:cNvSpPr/>
          <p:nvPr/>
        </p:nvSpPr>
        <p:spPr>
          <a:xfrm>
            <a:off x="566928" y="2359152"/>
            <a:ext cx="292608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" y="2478024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SD failed after reset</a:t>
            </a:r>
            <a:endParaRPr lang="en-US" sz="1140" dirty="0"/>
          </a:p>
        </p:txBody>
      </p:sp>
      <p:sp>
        <p:nvSpPr>
          <p:cNvPr id="18" name="Shape 16"/>
          <p:cNvSpPr/>
          <p:nvPr/>
        </p:nvSpPr>
        <p:spPr>
          <a:xfrm>
            <a:off x="3493008" y="2359152"/>
            <a:ext cx="365760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02736" y="2478024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Card left in partial SPI transaction</a:t>
            </a:r>
            <a:endParaRPr lang="en-US" sz="1140" dirty="0"/>
          </a:p>
        </p:txBody>
      </p:sp>
      <p:sp>
        <p:nvSpPr>
          <p:cNvPr id="20" name="Shape 18"/>
          <p:cNvSpPr/>
          <p:nvPr/>
        </p:nvSpPr>
        <p:spPr>
          <a:xfrm>
            <a:off x="7150608" y="2359152"/>
            <a:ext cx="4270248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260336" y="2478024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Send ≥74 clocks before every mount</a:t>
            </a:r>
            <a:endParaRPr lang="en-US" sz="1140" dirty="0"/>
          </a:p>
        </p:txBody>
      </p:sp>
      <p:sp>
        <p:nvSpPr>
          <p:cNvPr id="22" name="Shape 20"/>
          <p:cNvSpPr/>
          <p:nvPr/>
        </p:nvSpPr>
        <p:spPr>
          <a:xfrm>
            <a:off x="566928" y="2990088"/>
            <a:ext cx="29260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6656" y="3108960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Level LED froze with no card</a:t>
            </a:r>
            <a:endParaRPr lang="en-US" sz="1140" dirty="0"/>
          </a:p>
        </p:txBody>
      </p:sp>
      <p:sp>
        <p:nvSpPr>
          <p:cNvPr id="24" name="Shape 22"/>
          <p:cNvSpPr/>
          <p:nvPr/>
        </p:nvSpPr>
        <p:spPr>
          <a:xfrm>
            <a:off x="3493008" y="2990088"/>
            <a:ext cx="3657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02736" y="3108960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Full mount retry ran every 50 ms</a:t>
            </a:r>
            <a:endParaRPr lang="en-US" sz="1140" dirty="0"/>
          </a:p>
        </p:txBody>
      </p:sp>
      <p:sp>
        <p:nvSpPr>
          <p:cNvPr id="26" name="Shape 24"/>
          <p:cNvSpPr/>
          <p:nvPr/>
        </p:nvSpPr>
        <p:spPr>
          <a:xfrm>
            <a:off x="7150608" y="2990088"/>
            <a:ext cx="4270248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60336" y="3108960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Separate 50 ms probe from 1 s remount</a:t>
            </a:r>
            <a:endParaRPr lang="en-US" sz="1140" dirty="0"/>
          </a:p>
        </p:txBody>
      </p:sp>
      <p:sp>
        <p:nvSpPr>
          <p:cNvPr id="28" name="Shape 26"/>
          <p:cNvSpPr/>
          <p:nvPr/>
        </p:nvSpPr>
        <p:spPr>
          <a:xfrm>
            <a:off x="566928" y="3621024"/>
            <a:ext cx="292608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3739896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Pulled card ruined whole WAV</a:t>
            </a:r>
            <a:endParaRPr lang="en-US" sz="1140" dirty="0"/>
          </a:p>
        </p:txBody>
      </p:sp>
      <p:sp>
        <p:nvSpPr>
          <p:cNvPr id="30" name="Shape 28"/>
          <p:cNvSpPr/>
          <p:nvPr/>
        </p:nvSpPr>
        <p:spPr>
          <a:xfrm>
            <a:off x="3493008" y="3621024"/>
            <a:ext cx="365760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02736" y="3739896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Header size updated only at stop</a:t>
            </a:r>
            <a:endParaRPr lang="en-US" sz="1140" dirty="0"/>
          </a:p>
        </p:txBody>
      </p:sp>
      <p:sp>
        <p:nvSpPr>
          <p:cNvPr id="32" name="Shape 30"/>
          <p:cNvSpPr/>
          <p:nvPr/>
        </p:nvSpPr>
        <p:spPr>
          <a:xfrm>
            <a:off x="7150608" y="3621024"/>
            <a:ext cx="4270248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0336" y="3739896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Refresh WAV header every 1 s</a:t>
            </a:r>
            <a:endParaRPr lang="en-US" sz="1140" dirty="0"/>
          </a:p>
        </p:txBody>
      </p:sp>
      <p:sp>
        <p:nvSpPr>
          <p:cNvPr id="34" name="Shape 32"/>
          <p:cNvSpPr/>
          <p:nvPr/>
        </p:nvSpPr>
        <p:spPr>
          <a:xfrm>
            <a:off x="566928" y="4251960"/>
            <a:ext cx="29260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" y="4370832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Old take overwritten</a:t>
            </a:r>
            <a:endParaRPr lang="en-US" sz="1140" dirty="0"/>
          </a:p>
        </p:txBody>
      </p:sp>
      <p:sp>
        <p:nvSpPr>
          <p:cNvPr id="36" name="Shape 34"/>
          <p:cNvSpPr/>
          <p:nvPr/>
        </p:nvSpPr>
        <p:spPr>
          <a:xfrm>
            <a:off x="3493008" y="4251960"/>
            <a:ext cx="3657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02736" y="4370832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Flaky remount restarted filename scan</a:t>
            </a:r>
            <a:endParaRPr lang="en-US" sz="1140" dirty="0"/>
          </a:p>
        </p:txBody>
      </p:sp>
      <p:sp>
        <p:nvSpPr>
          <p:cNvPr id="38" name="Shape 36"/>
          <p:cNvSpPr/>
          <p:nvPr/>
        </p:nvSpPr>
        <p:spPr>
          <a:xfrm>
            <a:off x="7150608" y="4251960"/>
            <a:ext cx="4270248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260336" y="4370832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Monotonic in-RAM recording index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566928" y="4882896"/>
            <a:ext cx="292608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6656" y="5001768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No serial / build too large</a:t>
            </a:r>
            <a:endParaRPr lang="en-US" sz="1140" dirty="0"/>
          </a:p>
        </p:txBody>
      </p:sp>
      <p:sp>
        <p:nvSpPr>
          <p:cNvPr id="42" name="Shape 40"/>
          <p:cNvSpPr/>
          <p:nvPr/>
        </p:nvSpPr>
        <p:spPr>
          <a:xfrm>
            <a:off x="3493008" y="4882896"/>
            <a:ext cx="3657600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02736" y="5001768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Board options were wrong</a:t>
            </a:r>
            <a:endParaRPr lang="en-US" sz="1140" dirty="0"/>
          </a:p>
        </p:txBody>
      </p:sp>
      <p:sp>
        <p:nvSpPr>
          <p:cNvPr id="44" name="Shape 42"/>
          <p:cNvSpPr/>
          <p:nvPr/>
        </p:nvSpPr>
        <p:spPr>
          <a:xfrm>
            <a:off x="7150608" y="4882896"/>
            <a:ext cx="4270248" cy="630936"/>
          </a:xfrm>
          <a:prstGeom prst="rect">
            <a:avLst/>
          </a:prstGeom>
          <a:solidFill>
            <a:srgbClr val="F0F4F8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260336" y="5001768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CDCOnBoot=cdc + huge_app partition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566928" y="5513832"/>
            <a:ext cx="292608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6656" y="5632704"/>
            <a:ext cx="270662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b="1" dirty="0">
                <a:solidFill>
                  <a:srgbClr val="172A3A"/>
                </a:solidFill>
              </a:rPr>
              <a:t>Upload port busy</a:t>
            </a:r>
            <a:endParaRPr lang="en-US" sz="1140" dirty="0"/>
          </a:p>
        </p:txBody>
      </p:sp>
      <p:sp>
        <p:nvSpPr>
          <p:cNvPr id="48" name="Shape 46"/>
          <p:cNvSpPr/>
          <p:nvPr/>
        </p:nvSpPr>
        <p:spPr>
          <a:xfrm>
            <a:off x="3493008" y="5513832"/>
            <a:ext cx="3657600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02736" y="5632704"/>
            <a:ext cx="3438144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172A3A"/>
                </a:solidFill>
              </a:rPr>
              <a:t>IDE daemon held COM port</a:t>
            </a:r>
            <a:endParaRPr lang="en-US" sz="1140" dirty="0"/>
          </a:p>
        </p:txBody>
      </p:sp>
      <p:sp>
        <p:nvSpPr>
          <p:cNvPr id="50" name="Shape 48"/>
          <p:cNvSpPr/>
          <p:nvPr/>
        </p:nvSpPr>
        <p:spPr>
          <a:xfrm>
            <a:off x="7150608" y="5513832"/>
            <a:ext cx="4270248" cy="630936"/>
          </a:xfrm>
          <a:prstGeom prst="rect">
            <a:avLst/>
          </a:prstGeom>
          <a:solidFill>
            <a:srgbClr val="FFFFFF"/>
          </a:solidFill>
          <a:ln w="6350">
            <a:solidFill>
              <a:srgbClr val="D8E1EA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60336" y="5632704"/>
            <a:ext cx="4050792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40" dirty="0">
                <a:solidFill>
                  <a:srgbClr val="3B7A57"/>
                </a:solidFill>
              </a:rPr>
              <a:t>Stop the background Arduino CLI process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What the recorder can do now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Bench-tested on the custom ESP32-S3 PCB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40080" y="1298448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463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77824" y="151333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AUDIO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938528" y="14538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48 kHz • stereo • 16-bit PCM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938528" y="1865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Standard incrementing WAV files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1298448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2512" y="1463040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55664" y="1513332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CONTROL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516368" y="145389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Button or Bluetooth LE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516368" y="1865376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Self-contained Web Bluetooth remote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278892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4672" y="29535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300380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PROOF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8528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Live byte counter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938528" y="33558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Confirms data is actually reaching the card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0" y="2788920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2953512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168B8C"/>
          </a:solidFill>
          <a:ln w="12700">
            <a:solidFill>
              <a:srgbClr val="168B8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55664" y="3003804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STORAGE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516368" y="29443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20 MHz SPI on a 32 GB card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516368" y="33558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200 MB warning / 50 MB hard stop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0080" y="427939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4672" y="444398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7824" y="449427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RECOVERY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938528" y="4434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Hot-plug inference + periodic headers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938528" y="48463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At most ~1 s tail loss on card removal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4279392"/>
            <a:ext cx="507492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82512" y="4443984"/>
            <a:ext cx="960120" cy="310896"/>
          </a:xfrm>
          <a:prstGeom prst="roundRect">
            <a:avLst>
              <a:gd name="adj" fmla="val 23529"/>
            </a:avLst>
          </a:prstGeom>
          <a:solidFill>
            <a:srgbClr val="3B7A57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55664" y="4494276"/>
            <a:ext cx="813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STATUS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516368" y="443484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Three LEDs + 500 ms heartbeat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7516368" y="484632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7768A"/>
                </a:solidFill>
              </a:rPr>
              <a:t>Recording, SD, free space, and error state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304288" y="5815584"/>
            <a:ext cx="7571232" cy="384048"/>
          </a:xfrm>
          <a:prstGeom prst="roundRect">
            <a:avLst/>
          </a:prstGeom>
          <a:solidFill>
            <a:srgbClr val="DFF1E6"/>
          </a:solidFill>
          <a:ln w="12700">
            <a:solidFill>
              <a:srgbClr val="3B7A5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487168" y="5907024"/>
            <a:ext cx="7205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3B7A57"/>
                </a:solidFill>
              </a:rPr>
              <a:t>Known-good boot: SD mounted at 20 MHz → BLE advertising → ready to record</a:t>
            </a:r>
            <a:endParaRPr lang="en-US" sz="12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Material damping check — feasibility only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A quick screen to learn what was possible and verify that the recorder produced analyzable data</a:t>
            </a:r>
            <a:endParaRPr lang="en-US" sz="1250" dirty="0"/>
          </a:p>
        </p:txBody>
      </p:sp>
      <p:pic>
        <p:nvPicPr>
          <p:cNvPr id="4" name="Image 0" descr="C:\Users\samca\Desktop\UC Davis\Research 2026\MEMS_MIC_TEST\070926_Mic_Damping_Paper_Package\02_Figures\01_wind_attenu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" y="1243584"/>
            <a:ext cx="6720840" cy="436168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607808" y="1243584"/>
            <a:ext cx="3913632" cy="196596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607808" y="1243584"/>
            <a:ext cx="73152" cy="1965960"/>
          </a:xfrm>
          <a:prstGeom prst="rect">
            <a:avLst/>
          </a:prstGeom>
          <a:solidFill>
            <a:srgbClr val="13639A"/>
          </a:solidFill>
          <a:ln w="12700">
            <a:solidFill>
              <a:srgbClr val="136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36408" y="1426464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What was done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836408" y="1883664"/>
            <a:ext cx="350215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A3A"/>
                </a:solidFill>
              </a:rPr>
              <a:t>Nine coverings × ambient / low / high hairdryer conditions. One short recording per combination; the source was hand-positioned.</a:t>
            </a:r>
            <a:endParaRPr lang="en-US" sz="1380" dirty="0"/>
          </a:p>
        </p:txBody>
      </p:sp>
      <p:sp>
        <p:nvSpPr>
          <p:cNvPr id="9" name="Shape 6"/>
          <p:cNvSpPr/>
          <p:nvPr/>
        </p:nvSpPr>
        <p:spPr>
          <a:xfrm>
            <a:off x="7607808" y="3401568"/>
            <a:ext cx="3913632" cy="1965960"/>
          </a:xfrm>
          <a:prstGeom prst="roundRect">
            <a:avLst>
              <a:gd name="adj" fmla="val 2791"/>
            </a:avLst>
          </a:prstGeom>
          <a:solidFill>
            <a:srgbClr val="FFF3C4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607808" y="3401568"/>
            <a:ext cx="73152" cy="1965960"/>
          </a:xfrm>
          <a:prstGeom prst="rect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36408" y="3584448"/>
            <a:ext cx="3502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22851"/>
                </a:solidFill>
              </a:rPr>
              <a:t>Only takeaway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836408" y="4041648"/>
            <a:ext cx="3502152" cy="11612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80" dirty="0">
                <a:solidFill>
                  <a:srgbClr val="172A3A"/>
                </a:solidFill>
              </a:rPr>
              <a:t>Bare pop-filter fabric looked promising (~12.5 dB lower recorded level than lid-off under high airflow). This is not calibrated attenuation or a scientific treatment comparison.</a:t>
            </a:r>
            <a:endParaRPr lang="en-US" sz="1380" dirty="0"/>
          </a:p>
        </p:txBody>
      </p:sp>
      <p:sp>
        <p:nvSpPr>
          <p:cNvPr id="13" name="Shape 10"/>
          <p:cNvSpPr/>
          <p:nvPr/>
        </p:nvSpPr>
        <p:spPr>
          <a:xfrm>
            <a:off x="1901952" y="5760720"/>
            <a:ext cx="8439912" cy="411480"/>
          </a:xfrm>
          <a:prstGeom prst="roundRect">
            <a:avLst/>
          </a:prstGeom>
          <a:solidFill>
            <a:srgbClr val="F8E2E2"/>
          </a:solidFill>
          <a:ln w="12700">
            <a:solidFill>
              <a:srgbClr val="B44A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084832" y="5861304"/>
            <a:ext cx="8074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B44A4A"/>
                </a:solidFill>
              </a:rPr>
              <a:t>Presentation framing: engineering proof-of-concept and material down-selection—not a validated acoustic experiment.</a:t>
            </a:r>
            <a:endParaRPr lang="en-US" sz="11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47472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022851"/>
                </a:solidFill>
              </a:rPr>
              <a:t>Next steps toward deployment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10607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67768A"/>
                </a:solidFill>
              </a:rPr>
              <a:t>The core recorder works; the remaining work is board bring-up and application-specific validation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216152"/>
            <a:ext cx="10881360" cy="658368"/>
          </a:xfrm>
          <a:prstGeom prst="roundRect">
            <a:avLst/>
          </a:prstGeom>
          <a:solidFill>
            <a:srgbClr val="FFF3C4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" y="1316736"/>
            <a:ext cx="448056" cy="448056"/>
          </a:xfrm>
          <a:prstGeom prst="ellipse">
            <a:avLst/>
          </a:prstGeom>
          <a:solidFill>
            <a:srgbClr val="FFBF00"/>
          </a:solidFill>
          <a:ln w="12700">
            <a:solidFill>
              <a:srgbClr val="FFBF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26464"/>
            <a:ext cx="448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285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27048" y="1362456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22851"/>
                </a:solidFill>
              </a:rPr>
              <a:t>Define deployment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3685032" y="1344168"/>
            <a:ext cx="751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A3A"/>
                </a:solidFill>
              </a:rPr>
              <a:t>Replace the use-case placeholder with the exact study, placement, duration, and channel requirements.</a:t>
            </a:r>
            <a:endParaRPr lang="en-US" sz="1230" dirty="0"/>
          </a:p>
        </p:txBody>
      </p:sp>
      <p:sp>
        <p:nvSpPr>
          <p:cNvPr id="9" name="Shape 7"/>
          <p:cNvSpPr/>
          <p:nvPr/>
        </p:nvSpPr>
        <p:spPr>
          <a:xfrm>
            <a:off x="658368" y="2066544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536" y="2167128"/>
            <a:ext cx="448056" cy="448056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" y="2276856"/>
            <a:ext cx="448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27048" y="2212848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22851"/>
                </a:solidFill>
              </a:rPr>
              <a:t>Bring up ordered boards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85032" y="2194560"/>
            <a:ext cx="751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A3A"/>
                </a:solidFill>
              </a:rPr>
              <a:t>Verify power rails → USB/flash → PDM clock/data → SD → BLE → multi-mic channel map.</a:t>
            </a:r>
            <a:endParaRPr lang="en-US" sz="1230" dirty="0"/>
          </a:p>
        </p:txBody>
      </p:sp>
      <p:sp>
        <p:nvSpPr>
          <p:cNvPr id="14" name="Shape 12"/>
          <p:cNvSpPr/>
          <p:nvPr/>
        </p:nvSpPr>
        <p:spPr>
          <a:xfrm>
            <a:off x="658368" y="2916936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9536" y="3017520"/>
            <a:ext cx="448056" cy="448056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9536" y="3127248"/>
            <a:ext cx="448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27048" y="3063240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22851"/>
                </a:solidFill>
              </a:rPr>
              <a:t>Connect the flex array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3685032" y="3044952"/>
            <a:ext cx="751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A3A"/>
                </a:solidFill>
              </a:rPr>
              <a:t>Measure clock integrity, cable behavior, channel pairing, and simultaneous capture limits.</a:t>
            </a:r>
            <a:endParaRPr lang="en-US" sz="1230" dirty="0"/>
          </a:p>
        </p:txBody>
      </p:sp>
      <p:sp>
        <p:nvSpPr>
          <p:cNvPr id="19" name="Shape 17"/>
          <p:cNvSpPr/>
          <p:nvPr/>
        </p:nvSpPr>
        <p:spPr>
          <a:xfrm>
            <a:off x="658368" y="3767328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59536" y="3867912"/>
            <a:ext cx="448056" cy="448056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" y="3977640"/>
            <a:ext cx="448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527048" y="3913632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22851"/>
                </a:solidFill>
              </a:rPr>
              <a:t>Package the system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685032" y="3895344"/>
            <a:ext cx="751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A3A"/>
                </a:solidFill>
              </a:rPr>
              <a:t>Finalize mounting, enclosure, strain relief, acoustic opening, and environmental protection.</a:t>
            </a:r>
            <a:endParaRPr lang="en-US" sz="1230" dirty="0"/>
          </a:p>
        </p:txBody>
      </p:sp>
      <p:sp>
        <p:nvSpPr>
          <p:cNvPr id="24" name="Shape 22"/>
          <p:cNvSpPr/>
          <p:nvPr/>
        </p:nvSpPr>
        <p:spPr>
          <a:xfrm>
            <a:off x="658368" y="4617720"/>
            <a:ext cx="1088136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8E1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9536" y="4718304"/>
            <a:ext cx="448056" cy="448056"/>
          </a:xfrm>
          <a:prstGeom prst="ellipse">
            <a:avLst/>
          </a:prstGeom>
          <a:solidFill>
            <a:srgbClr val="022851"/>
          </a:solidFill>
          <a:ln w="12700">
            <a:solidFill>
              <a:srgbClr val="02285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9536" y="4828032"/>
            <a:ext cx="44805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27048" y="4764024"/>
            <a:ext cx="2057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022851"/>
                </a:solidFill>
              </a:rPr>
              <a:t>Run a controlled pilot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3685032" y="4745736"/>
            <a:ext cx="7516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dirty="0">
                <a:solidFill>
                  <a:srgbClr val="172A3A"/>
                </a:solidFill>
              </a:rPr>
              <a:t>Use repeatable geometry, metadata, timing, and a validation recording before field deployment.</a:t>
            </a:r>
            <a:endParaRPr lang="en-US" sz="1230" dirty="0"/>
          </a:p>
        </p:txBody>
      </p:sp>
      <p:sp>
        <p:nvSpPr>
          <p:cNvPr id="29" name="Text 27"/>
          <p:cNvSpPr/>
          <p:nvPr/>
        </p:nvSpPr>
        <p:spPr>
          <a:xfrm>
            <a:off x="731520" y="5733288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7768A"/>
                </a:solidFill>
              </a:rPr>
              <a:t>Main message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956816" y="5650992"/>
            <a:ext cx="91805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022851"/>
                </a:solidFill>
              </a:rPr>
              <a:t>The project is now a working recording platform—not just a microphone breakout—and its reliability problems have defined the final hardware and firmware architecture.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50040" y="6492240"/>
            <a:ext cx="22860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7768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UC Davis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MEMS Microphone Recorder System</dc:title>
  <dc:subject>ESP32-S3 MEMS microphone recorder project overview</dc:subject>
  <dc:creator>Sam Amezcua</dc:creator>
  <cp:lastModifiedBy>Sam Amezcua</cp:lastModifiedBy>
  <cp:revision>1</cp:revision>
  <dcterms:created xsi:type="dcterms:W3CDTF">2026-09-27T06:46:06Z</dcterms:created>
  <dcterms:modified xsi:type="dcterms:W3CDTF">2026-09-27T06:46:06Z</dcterms:modified>
</cp:coreProperties>
</file>